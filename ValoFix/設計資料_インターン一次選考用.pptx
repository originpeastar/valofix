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0"/>
  </p:notesMasterIdLst>
  <p:sldIdLst>
    <p:sldId id="267" r:id="rId2"/>
    <p:sldId id="275" r:id="rId3"/>
    <p:sldId id="270" r:id="rId4"/>
    <p:sldId id="268" r:id="rId5"/>
    <p:sldId id="274" r:id="rId6"/>
    <p:sldId id="271" r:id="rId7"/>
    <p:sldId id="276" r:id="rId8"/>
    <p:sldId id="27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4454"/>
    <a:srgbClr val="0B1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182" autoAdjust="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70F9A-8A8F-4F31-9442-206600E33C4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49032-D3D6-4BF3-8EE3-EF470494D5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69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722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5EB7-29B8-EAAE-51D7-DCB5F479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D12EB2-4378-3683-08EB-1320B8D1E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E7EAA4-2269-45B7-9073-EA5B5C266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E62A40-CBA1-CA0B-6DF0-4F1816E09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044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790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33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826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094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55F4-691E-D04F-5191-249E8877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548C99-1B6A-E95E-FA1B-5D4DC4ACB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90994F-BA5A-FD2C-089A-2F7A7FF90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AE9FF7-1415-44BC-A4E4-DD01F1BF7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350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55AE-C8BF-5384-5190-1AB1B61C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013A35-53C4-E0C4-466B-CE1D7F617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6CE410-EF5B-26F8-6115-CCC5C1FF3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C099E9-93BC-C643-0516-779DE2F79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49032-D3D6-4BF3-8EE3-EF470494D55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38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6589E-E2FE-C79C-5E6E-5FFCF1C3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747312-44F0-1FA6-2BFC-9F941B3D7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34FD2B-F885-D424-1EEF-6434AED0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BF306B-E0DF-C1DE-0B9B-5F04369E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0F65A5-EBB9-8588-4661-302D0F34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09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C090D-37DA-3EBA-C8A9-FA5D9220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8298AD-A074-A3AA-9DF5-A9A552985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E6C092-11BF-6958-A6ED-58F74D38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8F9395-8445-D2CF-0A2F-769D8F84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37D209-B00F-513A-EC1E-1554701B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19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0988B-68CE-A2A2-EEA6-053D7025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37CD9E-7C16-DE73-F5E4-5C9D848F3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1C9B5A-61E5-D334-9760-E37E6E07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4B0F5-BC0B-BE3C-EA1A-9C0639E7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1FC4E-472D-C1F8-A9CB-8EAC7BF3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97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6260F-787E-A688-227C-296F5567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E6A5CF-5555-C003-3BDB-48F7B3305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A31BDD-4E3E-217F-16A3-206BA0E94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8440D6-90CB-2F86-1C6B-79E1D39D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7521C3-4CE6-F096-ADE6-4481CCAF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242FFA-B1C9-AC5E-8853-2CF6D0A1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A8EBFE-2DD2-BF55-9F59-AD80D5F8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439D75-1C88-8A58-C3F1-1B6391B13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E73084-A958-A447-60E0-6F8C7177F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162E5D-AE35-25DA-2478-E12B4C45B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639A7A9-C96C-83A9-CEC0-55660FD7B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615BBD-77FA-08D5-D726-329A8275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0B4E0F-D095-B77A-18D3-14D27463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5CBC2D-B532-831C-ED23-6FA1E105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0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1720E-69DF-FB94-1D39-3B4F5DFA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D40288E-C4BF-722A-0E89-E0503AD6C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62B665-F204-C8FD-F2A7-88451816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2C72A4-8A56-473F-E44D-4C0F7EAC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65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F96AD36-9950-FB73-5E42-8DC12535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25128C-7EDD-E642-EE23-F713A99B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5A6F5E-B087-59BB-EB60-B20527E8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08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76309-F72F-6BC5-330F-04D43E35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BB2288-FC8F-8AAA-F48F-D97F9ADD0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CDD426-8BEF-9FAA-2B87-CAEB87170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775FBB-B95A-3CF7-C941-045352B5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E3695E-12B3-ABB3-E941-01DA5AE8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5B8999-A85F-CDDE-B9AB-621FE60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55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C10814-5E1E-4EE7-4AA8-481CCB81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337567-0EC9-AAE5-2A05-DE851CF91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43F475-3C76-7718-0FFB-7568EFB83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7C1D34-130B-BA73-29A9-B8975C5F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E5FB91-1151-9AD0-3725-01E16B00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49BC62-502F-70DB-5CC5-6E4879C5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61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9976BB-A52A-4627-AB8A-71AFDE8F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CB0CF7-D44B-5E1A-16F8-C28EFEB68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C4926-0CE4-5B45-82C2-527EB99B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5C35FF-E241-A068-1662-FA940FA7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98724D-5863-7A49-1BF8-CBC2DFF7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0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84A275-6D61-8416-B3C3-91D1806E4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79EF30-11A6-6935-C166-F40F692CB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AD726C-5BA3-FCD6-48A3-A6311D79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2C58B9-2D85-4660-1DB4-C1E88C01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C6CAD-10F0-43B2-D52A-BA0D932A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884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E61B7B-24B3-CE7B-2E2E-68D9B504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DFCEAA-AB04-A84B-D92E-7B3795AB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D107D0-CF1E-DBD1-9548-2B4C7FA9B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B04CA-1BF2-4F48-BEF6-CAC7F8752B11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257B47-8C21-875A-8C5D-0E6C6D9B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0E4E69-6A66-F128-1758-81BF9CCD8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39757-C4EB-40C0-9831-521EFD99E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40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FF807B5E-1927-8A45-39D4-EBE8DDE72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8" t="10070" r="13817" b="7115"/>
          <a:stretch>
            <a:fillRect/>
          </a:stretch>
        </p:blipFill>
        <p:spPr>
          <a:xfrm>
            <a:off x="2587831" y="2174717"/>
            <a:ext cx="7016337" cy="4505538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0DEF94-4BAC-9957-7473-818D061017BD}"/>
              </a:ext>
            </a:extLst>
          </p:cNvPr>
          <p:cNvSpPr txBox="1"/>
          <p:nvPr/>
        </p:nvSpPr>
        <p:spPr>
          <a:xfrm>
            <a:off x="228598" y="177745"/>
            <a:ext cx="11421096" cy="18466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戦術情報保存システム　</a:t>
            </a:r>
            <a:r>
              <a:rPr lang="en-US" altLang="ja-JP" sz="3200" b="1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ValoFix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1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FPS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ゲーム「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VALORANT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」に特化した戦術情報の一元管理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Web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アプリケーション。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マップ及びエージェント（キャラクター）による絞り込み、そして視覚的な情報表示によって、必要な情報に迅速にアクセスが可能。</a:t>
            </a:r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116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483F-EF14-91BB-9C2E-E417C6DD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アプリケーション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CDCEDAB7-1265-E147-A314-C2B932BA6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823" y="3966394"/>
            <a:ext cx="4094019" cy="22870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6DEBFF7-374E-5B6D-D3B5-2691EB9689E6}"/>
              </a:ext>
            </a:extLst>
          </p:cNvPr>
          <p:cNvSpPr txBox="1"/>
          <p:nvPr/>
        </p:nvSpPr>
        <p:spPr>
          <a:xfrm>
            <a:off x="228598" y="177745"/>
            <a:ext cx="11421096" cy="36009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制作背景・概要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課題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YouTube</a:t>
            </a:r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X</a:t>
            </a:r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TikTok</a:t>
            </a:r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など複数</a:t>
            </a:r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SNS</a:t>
            </a:r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に散在する戦術情報を個別に保存すると、後から見返す際に非常に手間がかかる。また、マップ数・エージェント数がともに多く、目的の情報への検索の絞り込みが困難。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解決策</a:t>
            </a:r>
            <a:endParaRPr kumimoji="1"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マップとエージェントを軸に戦術情報を一元管理できる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Web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アプリケーションを製作。情報の登録・検索・閲覧をシームレスに行うことが可能。</a:t>
            </a:r>
            <a:endParaRPr kumimoji="1"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ABD4C3E3-D62A-3323-305D-C85A6D104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8" t="10070" r="13817" b="7115"/>
          <a:stretch>
            <a:fillRect/>
          </a:stretch>
        </p:blipFill>
        <p:spPr>
          <a:xfrm>
            <a:off x="6829160" y="3870161"/>
            <a:ext cx="3861317" cy="2479543"/>
          </a:xfr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530712-F731-EF79-5F2E-6CB75E71D448}"/>
              </a:ext>
            </a:extLst>
          </p:cNvPr>
          <p:cNvSpPr txBox="1"/>
          <p:nvPr/>
        </p:nvSpPr>
        <p:spPr>
          <a:xfrm>
            <a:off x="1036970" y="6349704"/>
            <a:ext cx="4557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各種</a:t>
            </a:r>
            <a:r>
              <a:rPr kumimoji="1" lang="en-US" altLang="ja-JP" dirty="0">
                <a:latin typeface="Noto Sans JP" panose="020B0200000000000000" pitchFamily="50" charset="-128"/>
                <a:ea typeface="Noto Sans JP" panose="020B0200000000000000" pitchFamily="50" charset="-128"/>
              </a:rPr>
              <a:t>SNS</a:t>
            </a:r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の保存機能では情報管理が不十分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844C383-025B-1186-CB62-AF7674788850}"/>
              </a:ext>
            </a:extLst>
          </p:cNvPr>
          <p:cNvSpPr txBox="1"/>
          <p:nvPr/>
        </p:nvSpPr>
        <p:spPr>
          <a:xfrm>
            <a:off x="6539132" y="6349704"/>
            <a:ext cx="444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Noto Sans JP" panose="020B0200000000000000" pitchFamily="50" charset="-128"/>
                <a:ea typeface="Noto Sans JP" panose="020B0200000000000000" pitchFamily="50" charset="-128"/>
              </a:rPr>
              <a:t>Web</a:t>
            </a:r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アプリで情報を一元管理</a:t>
            </a:r>
            <a:endParaRPr kumimoji="1" lang="ja-JP" altLang="en-US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681179C-9921-96F8-D506-E04B14959A32}"/>
              </a:ext>
            </a:extLst>
          </p:cNvPr>
          <p:cNvSpPr txBox="1"/>
          <p:nvPr/>
        </p:nvSpPr>
        <p:spPr>
          <a:xfrm>
            <a:off x="5582711" y="4694434"/>
            <a:ext cx="1026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70937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E2E567-D74E-7972-5358-467A346884F4}"/>
              </a:ext>
            </a:extLst>
          </p:cNvPr>
          <p:cNvSpPr txBox="1"/>
          <p:nvPr/>
        </p:nvSpPr>
        <p:spPr>
          <a:xfrm>
            <a:off x="174171" y="217714"/>
            <a:ext cx="9717974" cy="1046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画面遷移フロー</a:t>
            </a:r>
            <a:endParaRPr kumimoji="1"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1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画面内で主要操作を完結させることで、画面遷移による操作コストを削減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A68F72-82AB-2370-7CF3-F6C293210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626" y="2110776"/>
            <a:ext cx="12227626" cy="3752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CBD40B-4818-1985-440C-0E9F2CC95ADC}"/>
              </a:ext>
            </a:extLst>
          </p:cNvPr>
          <p:cNvSpPr txBox="1"/>
          <p:nvPr/>
        </p:nvSpPr>
        <p:spPr>
          <a:xfrm>
            <a:off x="6293923" y="3259723"/>
            <a:ext cx="2161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戦術情報表示ページ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3301AA-1BE5-842D-01CF-7517ED76D27B}"/>
              </a:ext>
            </a:extLst>
          </p:cNvPr>
          <p:cNvSpPr txBox="1"/>
          <p:nvPr/>
        </p:nvSpPr>
        <p:spPr>
          <a:xfrm>
            <a:off x="9367653" y="3259723"/>
            <a:ext cx="216130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戦術情報登録ページ</a:t>
            </a:r>
          </a:p>
        </p:txBody>
      </p:sp>
    </p:spTree>
    <p:extLst>
      <p:ext uri="{BB962C8B-B14F-4D97-AF65-F5344CB8AC3E}">
        <p14:creationId xmlns:p14="http://schemas.microsoft.com/office/powerpoint/2010/main" val="201650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CD334C-2B6F-705F-8327-05540A001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28" t="25079" r="39197" b="15714"/>
          <a:stretch>
            <a:fillRect/>
          </a:stretch>
        </p:blipFill>
        <p:spPr>
          <a:xfrm>
            <a:off x="7119257" y="3064636"/>
            <a:ext cx="4484916" cy="379336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BA373B1-0F53-193D-B3B0-4F71571A0E9C}"/>
              </a:ext>
            </a:extLst>
          </p:cNvPr>
          <p:cNvSpPr txBox="1"/>
          <p:nvPr/>
        </p:nvSpPr>
        <p:spPr>
          <a:xfrm>
            <a:off x="174170" y="217714"/>
            <a:ext cx="11430003" cy="32624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DB</a:t>
            </a:r>
            <a:r>
              <a:rPr kumimoji="1"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構造　</a:t>
            </a:r>
            <a:r>
              <a:rPr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赤文字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：主キー　</a:t>
            </a:r>
            <a:r>
              <a:rPr lang="ja-JP" altLang="en-US" sz="2400" dirty="0">
                <a:solidFill>
                  <a:srgbClr val="0070C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青文字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：外部キー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1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users(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user_id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mailAddress, pwd, userName)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maps(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map_id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map_name, image_path)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agents(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agent_id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agent_name)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common_macros(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macro_id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user_id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map_id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point_x, point_y, comment, url)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agent_fixes(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fix_id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user_id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map_id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agent_id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, point_x, point_y, comment, url)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データの重複を防ぐため、マップ・エージェント・戦術情報を分離して管理（正規化）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ユーザーごとの登録データ管理を可能にするため、各テーブルに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user_id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</a:rPr>
              <a:t>を紐付け</a:t>
            </a:r>
          </a:p>
          <a:p>
            <a:endParaRPr kumimoji="1" lang="ja-JP" altLang="en-US" sz="24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42874A-9A89-D8C9-62E2-3889EF13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71" y="3681641"/>
            <a:ext cx="6383586" cy="309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7385C2-F1C3-3A0C-4A7A-9AFD198550C6}"/>
              </a:ext>
            </a:extLst>
          </p:cNvPr>
          <p:cNvSpPr txBox="1"/>
          <p:nvPr/>
        </p:nvSpPr>
        <p:spPr>
          <a:xfrm>
            <a:off x="174171" y="3295480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○</a:t>
            </a:r>
            <a:r>
              <a:rPr kumimoji="1" lang="en-US" altLang="ja-JP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E-R</a:t>
            </a:r>
            <a:r>
              <a:rPr kumimoji="1" lang="ja-JP" altLang="en-US" sz="2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図</a:t>
            </a:r>
          </a:p>
        </p:txBody>
      </p:sp>
    </p:spTree>
    <p:extLst>
      <p:ext uri="{BB962C8B-B14F-4D97-AF65-F5344CB8AC3E}">
        <p14:creationId xmlns:p14="http://schemas.microsoft.com/office/powerpoint/2010/main" val="395440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32E9CD-43DF-18C3-A5E3-4FF14C745F7D}"/>
              </a:ext>
            </a:extLst>
          </p:cNvPr>
          <p:cNvSpPr txBox="1"/>
          <p:nvPr/>
        </p:nvSpPr>
        <p:spPr>
          <a:xfrm>
            <a:off x="174170" y="217714"/>
            <a:ext cx="11855534" cy="38472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主な機能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動的データ取得・表示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マップとエージェントの選択に応じて、該当する戦術情報をリアルタイムで絞り込み表示。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戦術情報の登録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URL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・コメントとともに戦術情報を登録。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SNS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で見つけた攻略動画も即座に保存可能。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視覚的な情報管理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マップ画像上の座標と紐付けて情報を管理。どのポジションにおける情報化を直感的に把握可能。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0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4FED9E5-4505-EAEF-201D-5CC8532D8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012" y="3843655"/>
            <a:ext cx="3875045" cy="24904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32BF351-0036-5894-CBA4-059721544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617" y="3849156"/>
            <a:ext cx="2814989" cy="248491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D0C24E-A07B-9E69-330A-B5C470FEBEFA}"/>
              </a:ext>
            </a:extLst>
          </p:cNvPr>
          <p:cNvSpPr txBox="1"/>
          <p:nvPr/>
        </p:nvSpPr>
        <p:spPr>
          <a:xfrm>
            <a:off x="1117606" y="6347509"/>
            <a:ext cx="4605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マップとエージェントの組み合わせで検索</a:t>
            </a:r>
            <a:endParaRPr kumimoji="1" lang="ja-JP" altLang="en-US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8BFFCA-0A1E-C75A-E07E-177AD256CE25}"/>
              </a:ext>
            </a:extLst>
          </p:cNvPr>
          <p:cNvSpPr txBox="1"/>
          <p:nvPr/>
        </p:nvSpPr>
        <p:spPr>
          <a:xfrm>
            <a:off x="7816078" y="6347509"/>
            <a:ext cx="296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検索結果</a:t>
            </a:r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をマップ上に表示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78C97E-95FD-A018-B5AE-8FF1A4B5F481}"/>
              </a:ext>
            </a:extLst>
          </p:cNvPr>
          <p:cNvSpPr txBox="1"/>
          <p:nvPr/>
        </p:nvSpPr>
        <p:spPr>
          <a:xfrm>
            <a:off x="5580019" y="4639623"/>
            <a:ext cx="1026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8031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EED762-5D8A-B2CF-2B4B-9215F12C354C}"/>
              </a:ext>
            </a:extLst>
          </p:cNvPr>
          <p:cNvSpPr txBox="1"/>
          <p:nvPr/>
        </p:nvSpPr>
        <p:spPr>
          <a:xfrm>
            <a:off x="174170" y="217714"/>
            <a:ext cx="11855534" cy="581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使用技術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言語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PHP, HTML,CSS, JavaScript</a:t>
            </a:r>
          </a:p>
          <a:p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CSS</a:t>
            </a:r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フレームワーク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Bootstrap</a:t>
            </a:r>
          </a:p>
          <a:p>
            <a:endParaRPr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バックエンド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MySQL</a:t>
            </a:r>
          </a:p>
          <a:p>
            <a:endParaRPr kumimoji="1"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ツール</a:t>
            </a:r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kumimoji="1"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XAMPP, Visual Studio Code</a:t>
            </a:r>
          </a:p>
          <a:p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フロントエンド</a:t>
            </a:r>
            <a:endParaRPr kumimoji="1"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Vanilla JavaScript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DOM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操作</a:t>
            </a:r>
            <a:r>
              <a:rPr lang="en-US" altLang="ja-JP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, </a:t>
            </a: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イベント制御）</a:t>
            </a:r>
            <a:endParaRPr kumimoji="1" lang="ja-JP" alt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76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7A74-A6B2-A0A8-D99B-BEDC664F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041F91-B28F-9BB8-3E74-075CBB790C1E}"/>
              </a:ext>
            </a:extLst>
          </p:cNvPr>
          <p:cNvSpPr txBox="1"/>
          <p:nvPr/>
        </p:nvSpPr>
        <p:spPr>
          <a:xfrm>
            <a:off x="67786" y="1013278"/>
            <a:ext cx="6311736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1. </a:t>
            </a:r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ユーザー入力</a:t>
            </a:r>
            <a:endParaRPr lang="en-US" altLang="ja-JP" sz="1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フロントエンド（</a:t>
            </a:r>
            <a:r>
              <a:rPr lang="en-US" altLang="ja-JP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HTML/CSS/JavaScript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）でフォーム入力を受け付け。</a:t>
            </a:r>
            <a:endParaRPr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2. </a:t>
            </a:r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サーバー処理</a:t>
            </a:r>
            <a:endParaRPr lang="en-US" altLang="ja-JP" sz="1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PHP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がリクエストを受け取り、バリデーションと業務ロジックを実行。</a:t>
            </a:r>
            <a:endParaRPr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6984A1B-779D-15A4-751F-30264B4BEA61}"/>
              </a:ext>
            </a:extLst>
          </p:cNvPr>
          <p:cNvSpPr txBox="1"/>
          <p:nvPr/>
        </p:nvSpPr>
        <p:spPr>
          <a:xfrm>
            <a:off x="597723" y="5355771"/>
            <a:ext cx="109530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sz="2400" dirty="0"/>
          </a:p>
          <a:p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凡例　　処理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　　　　　データの流れ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　　　　  制御の流れ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</a:p>
          <a:p>
            <a:endParaRPr kumimoji="1"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A32274-1173-CE85-7EE4-73B78CF81277}"/>
              </a:ext>
            </a:extLst>
          </p:cNvPr>
          <p:cNvSpPr txBox="1"/>
          <p:nvPr/>
        </p:nvSpPr>
        <p:spPr>
          <a:xfrm>
            <a:off x="174170" y="217714"/>
            <a:ext cx="87204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戦術情報登録処理の流れ・システム設計図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A18BAA-BF7D-9A4B-0909-F67E5467F7A5}"/>
              </a:ext>
            </a:extLst>
          </p:cNvPr>
          <p:cNvSpPr txBox="1"/>
          <p:nvPr/>
        </p:nvSpPr>
        <p:spPr>
          <a:xfrm>
            <a:off x="597723" y="3541445"/>
            <a:ext cx="19119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ユーザー入力</a:t>
            </a:r>
            <a:endParaRPr kumimoji="1"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3F5BF0-4A3B-8F2D-75F6-7063C962CC64}"/>
              </a:ext>
            </a:extLst>
          </p:cNvPr>
          <p:cNvSpPr txBox="1"/>
          <p:nvPr/>
        </p:nvSpPr>
        <p:spPr>
          <a:xfrm>
            <a:off x="3192482" y="3541445"/>
            <a:ext cx="19119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ja-JP" dirty="0"/>
          </a:p>
          <a:p>
            <a:pPr algn="ctr"/>
            <a:r>
              <a:rPr kumimoji="1"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リクエスト処理</a:t>
            </a:r>
            <a:endParaRPr kumimoji="1"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EF4E9A-7ADC-BF97-29C1-8A00B9F4F886}"/>
              </a:ext>
            </a:extLst>
          </p:cNvPr>
          <p:cNvSpPr txBox="1"/>
          <p:nvPr/>
        </p:nvSpPr>
        <p:spPr>
          <a:xfrm>
            <a:off x="9638804" y="3541445"/>
            <a:ext cx="191192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kumimoji="1" lang="en-US" altLang="ja-JP" dirty="0"/>
          </a:p>
          <a:p>
            <a:pPr algn="ctr"/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画面更新</a:t>
            </a:r>
            <a:endParaRPr kumimoji="1"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ja-JP" altLang="en-US" dirty="0"/>
          </a:p>
        </p:txBody>
      </p:sp>
      <p:sp>
        <p:nvSpPr>
          <p:cNvPr id="12" name="フローチャート: 磁気ディスク 11">
            <a:extLst>
              <a:ext uri="{FF2B5EF4-FFF2-40B4-BE49-F238E27FC236}">
                <a16:creationId xmlns:a16="http://schemas.microsoft.com/office/drawing/2014/main" id="{6F51A85F-316B-DFC4-7C94-B996E7EAEF5B}"/>
              </a:ext>
            </a:extLst>
          </p:cNvPr>
          <p:cNvSpPr/>
          <p:nvPr/>
        </p:nvSpPr>
        <p:spPr>
          <a:xfrm>
            <a:off x="6320146" y="3443934"/>
            <a:ext cx="2102921" cy="111835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データベース操作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93F094-AE6C-A29E-D184-544CEA23559F}"/>
              </a:ext>
            </a:extLst>
          </p:cNvPr>
          <p:cNvSpPr txBox="1"/>
          <p:nvPr/>
        </p:nvSpPr>
        <p:spPr>
          <a:xfrm>
            <a:off x="6074227" y="1013278"/>
            <a:ext cx="6117773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3.</a:t>
            </a:r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データベース操作</a:t>
            </a:r>
            <a:endParaRPr lang="en-US" altLang="ja-JP" sz="1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MySQL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へのデータ保存・取得を</a:t>
            </a:r>
            <a:r>
              <a:rPr lang="en-US" altLang="ja-JP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PHP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が担い、結果をフロントエンドへ。</a:t>
            </a:r>
            <a:endParaRPr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4.</a:t>
            </a:r>
            <a:r>
              <a:rPr lang="ja-JP" altLang="en-US" sz="1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画面更新</a:t>
            </a:r>
            <a:endParaRPr lang="en-US" altLang="ja-JP" sz="1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取得データをもとに</a:t>
            </a:r>
            <a:r>
              <a:rPr lang="en-US" altLang="ja-JP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DOM</a:t>
            </a:r>
            <a:r>
              <a:rPr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を更新し、最新の戦術情報を表示する。</a:t>
            </a:r>
            <a:endParaRPr kumimoji="1" lang="en-US" altLang="ja-JP" sz="1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F488A09-0C7F-EED9-876D-4F741F5C9A6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509650" y="4003110"/>
            <a:ext cx="682832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F338700E-DA12-9E49-B4D4-6107699F424A}"/>
              </a:ext>
            </a:extLst>
          </p:cNvPr>
          <p:cNvCxnSpPr>
            <a:stCxn id="9" idx="3"/>
            <a:endCxn id="12" idx="2"/>
          </p:cNvCxnSpPr>
          <p:nvPr/>
        </p:nvCxnSpPr>
        <p:spPr>
          <a:xfrm>
            <a:off x="5104409" y="4003110"/>
            <a:ext cx="12157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84578E4F-00F1-F822-768F-BA1D5A949956}"/>
              </a:ext>
            </a:extLst>
          </p:cNvPr>
          <p:cNvCxnSpPr>
            <a:stCxn id="12" idx="4"/>
            <a:endCxn id="10" idx="1"/>
          </p:cNvCxnSpPr>
          <p:nvPr/>
        </p:nvCxnSpPr>
        <p:spPr>
          <a:xfrm>
            <a:off x="8423067" y="4003110"/>
            <a:ext cx="121573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854A961-9986-B8F8-752A-CD68C913C325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16200000" flipH="1">
            <a:off x="7371607" y="1241614"/>
            <a:ext cx="12700" cy="6446322"/>
          </a:xfrm>
          <a:prstGeom prst="bentConnector3">
            <a:avLst>
              <a:gd name="adj1" fmla="val 48857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図 32">
            <a:extLst>
              <a:ext uri="{FF2B5EF4-FFF2-40B4-BE49-F238E27FC236}">
                <a16:creationId xmlns:a16="http://schemas.microsoft.com/office/drawing/2014/main" id="{BB389345-9229-D348-761B-18575D89C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515" y="2478021"/>
            <a:ext cx="1891088" cy="96799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A80421D8-2173-60F4-605D-4D9EC4A69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10676" r="19265" b="7259"/>
          <a:stretch>
            <a:fillRect/>
          </a:stretch>
        </p:blipFill>
        <p:spPr>
          <a:xfrm>
            <a:off x="10996551" y="2570398"/>
            <a:ext cx="712520" cy="923330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4FBBA754-5E0B-18DB-2835-5154F0DA9C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95" y="2439444"/>
            <a:ext cx="2102922" cy="901253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CC950F6D-6140-5902-E4D0-A7C4E56298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347" y="2714582"/>
            <a:ext cx="1362806" cy="735702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849A7E4-C160-C85C-7F44-297600131EA2}"/>
              </a:ext>
            </a:extLst>
          </p:cNvPr>
          <p:cNvSpPr txBox="1"/>
          <p:nvPr/>
        </p:nvSpPr>
        <p:spPr>
          <a:xfrm>
            <a:off x="2729343" y="5632769"/>
            <a:ext cx="120138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8627AB0-6A15-5FC6-0B32-1ED36E490306}"/>
              </a:ext>
            </a:extLst>
          </p:cNvPr>
          <p:cNvCxnSpPr/>
          <p:nvPr/>
        </p:nvCxnSpPr>
        <p:spPr>
          <a:xfrm>
            <a:off x="6485906" y="5955934"/>
            <a:ext cx="114992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2A9EC3E0-4EDF-0E2B-F2AD-5CFA4CCD1D25}"/>
              </a:ext>
            </a:extLst>
          </p:cNvPr>
          <p:cNvCxnSpPr/>
          <p:nvPr/>
        </p:nvCxnSpPr>
        <p:spPr>
          <a:xfrm>
            <a:off x="9846623" y="5955934"/>
            <a:ext cx="11499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99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0334A-1A20-2C8D-50CD-72069B2F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CBBE91-455B-3C35-DA3E-F87A132555CA}"/>
              </a:ext>
            </a:extLst>
          </p:cNvPr>
          <p:cNvSpPr txBox="1"/>
          <p:nvPr/>
        </p:nvSpPr>
        <p:spPr>
          <a:xfrm>
            <a:off x="174169" y="217714"/>
            <a:ext cx="11665529" cy="53245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課題に対する改善と今後の方針</a:t>
            </a:r>
            <a:endParaRPr lang="en-US" altLang="ja-JP" sz="3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8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課題点</a:t>
            </a:r>
            <a:endParaRPr lang="en-US" altLang="ja-JP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画面内で選択・登録・表示の複数の操作を扱うため、状態管理が複雑になり意図しない表示崩れが発生。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8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改善アプローチ</a:t>
            </a:r>
            <a:endParaRPr lang="en-US" altLang="ja-JP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DOM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更新の整理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状態管理を整理し、コードの可読性及び保守性を向上。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友人に実際に操作してもらいフィードバックを収集し改善。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sz="28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今後の方針</a:t>
            </a:r>
            <a:endParaRPr lang="en-US" altLang="ja-JP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他ユーザーとの情報共有機能の実装を視野に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209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1088</TotalTime>
  <Words>684</Words>
  <Application>Microsoft Office PowerPoint</Application>
  <PresentationFormat>ワイド画面</PresentationFormat>
  <Paragraphs>99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BIZ UD明朝 Medium</vt:lpstr>
      <vt:lpstr>Noto Sans JP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濵田　大稀_石川3I35</dc:creator>
  <cp:lastModifiedBy>濵田 大稀_石川4I36</cp:lastModifiedBy>
  <cp:revision>19</cp:revision>
  <dcterms:created xsi:type="dcterms:W3CDTF">2025-07-20T11:12:28Z</dcterms:created>
  <dcterms:modified xsi:type="dcterms:W3CDTF">2026-04-13T10:15:09Z</dcterms:modified>
</cp:coreProperties>
</file>